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2"/>
    <p:sldId id="274" r:id="rId20"/>
    <p:sldId id="275" r:id="rId21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832ae32-b96a-da18-bcf1-d2dbbb53a514}">
          <p14:sldIdLst>
            <p14:sldId id="256"/>
            <p14:sldId id="257"/>
            <p14:sldId id="258"/>
            <p14:sldId id="259"/>
            <p14:sldId id="260"/>
          </p14:sldIdLst>
        </p14:section>
        <p14:section name="Database Design" id="{0571e41b-019a-4b81-75ba-f5c270b993e7}">
          <p14:sldIdLst>
            <p14:sldId id="261"/>
            <p14:sldId id="262"/>
            <p14:sldId id="263"/>
            <p14:sldId id="264"/>
          </p14:sldIdLst>
        </p14:section>
        <p14:section name="Basic Retrieval" id="{55e17d6f-d12d-4340-9b89-6211602db3bc}">
          <p14:sldIdLst>
            <p14:sldId id="265"/>
            <p14:sldId id="266"/>
            <p14:sldId id="267"/>
            <p14:sldId id="268"/>
          </p14:sldIdLst>
        </p14:section>
        <p14:section name="Joins" id="{f9197190-33e4-2639-0353-f5c6197c757e}">
          <p14:sldIdLst>
            <p14:sldId id="269"/>
            <p14:sldId id="270"/>
          </p14:sldIdLst>
        </p14:section>
        <p14:section name="Aggregates" id="{d6e3f4f5-c1ea-e018-37a4-37fdcebe1e63}">
          <p14:sldIdLst>
            <p14:sldId id="271"/>
            <p14:sldId id="272"/>
            <p14:sldId id="273"/>
            <p14:sldId id="274"/>
          </p14:sldIdLst>
        </p14:section>
        <p14:section name="Subqueries &amp; Logic" id="{b3ee7708-ef06-2431-f7f0-c7fa0ed4da92}">
          <p14:sldIdLst>
            <p14:sldId id="275"/>
            <p14:sldId id="276"/>
            <p14:sldId id="277"/>
          </p14:sldIdLst>
        </p14:section>
        <p14:section name="Closing" id="{a5138710-8648-5843-515d-27f0662992db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" cy="566928"/>
          </a:xfrm>
          <a:prstGeom prst="rect">
            <a:avLst/>
          </a:prstGeom>
          <a:solidFill>
            <a:srgbClr val="29C5F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  |  DBMS Mini Project  |  Snigdha Kanoj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" cy="566928"/>
          </a:xfrm>
          <a:prstGeom prst="rect">
            <a:avLst/>
          </a:prstGeom>
          <a:solidFill>
            <a:srgbClr val="29C5F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  |  DBMS Mini Project  |  Snigdha Kanoj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377440"/>
            <a:ext cx="64008" cy="2194560"/>
          </a:xfrm>
          <a:prstGeom prst="rect">
            <a:avLst/>
          </a:prstGeom>
          <a:solidFill>
            <a:srgbClr val="29C5F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325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9C5F6"/>
                </a:solidFill>
              </a:rPr>
              <a:t>DATABASE MANAGEMENT SYSTEMS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64008" cy="1828800"/>
          </a:xfrm>
          <a:prstGeom prst="rect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886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A Relational Database Mini Project — Schema Design, Data Modeling &amp; SQL Query Analysis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Snigdha Kanoj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3F5"/>
                </a:solidFill>
              </a:rPr>
              <a:t>A School Management System is a database-driven application that records students, subjects and exams, and the marks each student scores — replacing paper mark registers with accurate, queryable records.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It maintains structured records of:</a:t>
            </a:r>
            <a:endParaRPr lang="en-US" sz="1500" dirty="0"/>
          </a:p>
        </p:txBody>
      </p:sp>
      <p:sp>
        <p:nvSpPr>
          <p:cNvPr id="5" name="Entity card"/>
          <p:cNvSpPr/>
          <p:nvPr/>
        </p:nvSpPr>
        <p:spPr>
          <a:xfrm>
            <a:off x="457200" y="2423160"/>
            <a:ext cx="2651760" cy="201168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Student identity — first name and last name</a:t>
            </a:r>
            <a:endParaRPr lang="en-US" sz="1300" dirty="0"/>
          </a:p>
        </p:txBody>
      </p:sp>
      <p:sp>
        <p:nvSpPr>
          <p:cNvPr id="8" name="Entity card"/>
          <p:cNvSpPr/>
          <p:nvPr/>
        </p:nvSpPr>
        <p:spPr>
          <a:xfrm>
            <a:off x="3291840" y="2423160"/>
            <a:ext cx="2651760" cy="201168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Subjects taught, each with a unique name</a:t>
            </a:r>
            <a:endParaRPr lang="en-US" sz="1300" dirty="0"/>
          </a:p>
        </p:txBody>
      </p:sp>
      <p:sp>
        <p:nvSpPr>
          <p:cNvPr id="11" name="Entity card"/>
          <p:cNvSpPr/>
          <p:nvPr/>
        </p:nvSpPr>
        <p:spPr>
          <a:xfrm>
            <a:off x="6126480" y="2423160"/>
            <a:ext cx="2651760" cy="201168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Exam names (unique) and the date each was held</a:t>
            </a:r>
            <a:endParaRPr lang="en-US" sz="1300" dirty="0"/>
          </a:p>
        </p:txBody>
      </p:sp>
      <p:sp>
        <p:nvSpPr>
          <p:cNvPr id="14" name="Entity card"/>
          <p:cNvSpPr/>
          <p:nvPr/>
        </p:nvSpPr>
        <p:spPr>
          <a:xfrm>
            <a:off x="8961120" y="2423160"/>
            <a:ext cx="2651760" cy="201168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Score (0–100) per student, subject and exam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system uses MySQL to store, manage and retrieve academic data securely and efficiently.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760720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212080" cy="0"/>
          </a:xfrm>
          <a:prstGeom prst="line">
            <a:avLst/>
          </a:prstGeom>
          <a:noFill/>
          <a:ln w="25400">
            <a:solidFill>
              <a:srgbClr val="29C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C5F6"/>
                </a:solidFill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Marks kept in paper registers are hard to search and easy to lose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Manual totals and averages lead to calculation errors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Difficult to compare a student’s performance across exams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No quick way to find toppers or subject-wise performance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Report preparation is slow and repetitive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051560"/>
            <a:ext cx="5239512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554480"/>
            <a:ext cx="4663440" cy="0"/>
          </a:xfrm>
          <a:prstGeom prst="line">
            <a:avLst/>
          </a:prstGeom>
          <a:noFill/>
          <a:ln w="25400">
            <a:solidFill>
              <a:srgbClr val="7C6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C6CF0"/>
                </a:solidFill>
              </a:rPr>
              <a:t>SOLUTION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3F5"/>
                </a:solidFill>
              </a:rPr>
              <a:t>A relational database stores students, subjects, exams and marks in linked tables. Constraints keep the data valid, and SQL queries instantly produce averages, totals, rankings and pass/fail reports — faster and more accurate than manual record-keeping.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Benefits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3434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Accurate, centralized mark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Instant analysis with SQL queries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Score validation (0–100) built 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887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maintain centralized records of students, subjects, exams and marks.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019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store each student’s score for every subject in every exam.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542032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33472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151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ensure data validity using keys, NOT NULL, UNIQUE and CHECK constraints.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255264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46704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284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retrieve and sort academic records quickly with SQL queries.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968496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59936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416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analyse performance with averages, totals and counts.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4681728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73168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754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identify top performers and classify results as Pass or Fail.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1600" y="5394960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486400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4681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To reduce manual paperwork and improve accuracy in school administration.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Implemented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887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Entity-Relationship (ER) Modeling to design entities, attributes and relationships.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019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Primary &amp; Foreign Keys (with AUTO_INCREMENT) for unique identity and referential integrity.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542032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33472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151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Integrity Constraints — NOT NULL, UNIQUE and CHECK (score BETWEEN 0 AND 100).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255264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46704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284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Data Definition Language (DDL) to create the database and tables.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968496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59936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416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Data Manipulation Language (DML) to insert and query sample records.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4681728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73168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754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Aggregate Functions — COUNT, AVG, SUM, MAX — with GROUP BY, HAVING and ORDER BY.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1600" y="5394960"/>
            <a:ext cx="10332720" cy="0"/>
          </a:xfrm>
          <a:prstGeom prst="line">
            <a:avLst/>
          </a:prstGeom>
          <a:noFill/>
          <a:ln w="9525">
            <a:solidFill>
              <a:srgbClr val="2234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486400"/>
            <a:ext cx="512064" cy="512064"/>
          </a:xfrm>
          <a:prstGeom prst="ellipse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4681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5"/>
                </a:solidFill>
              </a:rPr>
              <a:t>Multi-table JOINs, Subqueries and CASE expressions for connected, derived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Diagram</a:t>
            </a:r>
            <a:endParaRPr lang="en-US" sz="2600" dirty="0"/>
          </a:p>
        </p:txBody>
      </p:sp>
      <p:sp>
        <p:nvSpPr>
          <p:cNvPr id="3" name="STUDENTS entity"/>
          <p:cNvSpPr/>
          <p:nvPr/>
        </p:nvSpPr>
        <p:spPr>
          <a:xfrm>
            <a:off x="640080" y="2240280"/>
            <a:ext cx="2651760" cy="1316736"/>
          </a:xfrm>
          <a:prstGeom prst="rect">
            <a:avLst/>
          </a:prstGeom>
          <a:solidFill>
            <a:srgbClr val="0E1530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240280"/>
            <a:ext cx="2651760" cy="384048"/>
          </a:xfrm>
          <a:prstGeom prst="rect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24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200" b="1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35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9" name="MARKS entity"/>
          <p:cNvSpPr/>
          <p:nvPr/>
        </p:nvSpPr>
        <p:spPr>
          <a:xfrm>
            <a:off x="4754880" y="1600200"/>
            <a:ext cx="2743200" cy="1938528"/>
          </a:xfrm>
          <a:prstGeom prst="rect">
            <a:avLst/>
          </a:prstGeom>
          <a:solidFill>
            <a:srgbClr val="0E1530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600200"/>
            <a:ext cx="2743200" cy="384048"/>
          </a:xfrm>
          <a:prstGeom prst="rect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984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200" b="1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mark_id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95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2606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16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exam_id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2278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00" dirty="0"/>
          </a:p>
        </p:txBody>
      </p:sp>
      <p:sp>
        <p:nvSpPr>
          <p:cNvPr id="17" name="SUBJECTS entity"/>
          <p:cNvSpPr/>
          <p:nvPr/>
        </p:nvSpPr>
        <p:spPr>
          <a:xfrm>
            <a:off x="9052560" y="1234440"/>
            <a:ext cx="2651760" cy="1005840"/>
          </a:xfrm>
          <a:prstGeom prst="rect">
            <a:avLst/>
          </a:prstGeom>
          <a:solidFill>
            <a:srgbClr val="0E1530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234440"/>
            <a:ext cx="2651760" cy="384048"/>
          </a:xfrm>
          <a:prstGeom prst="rect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62288" y="1618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200" b="1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62288" y="19293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subject_name</a:t>
            </a:r>
            <a:endParaRPr lang="en-US" sz="1200" dirty="0"/>
          </a:p>
        </p:txBody>
      </p:sp>
      <p:sp>
        <p:nvSpPr>
          <p:cNvPr id="22" name="EXAMS entity"/>
          <p:cNvSpPr/>
          <p:nvPr/>
        </p:nvSpPr>
        <p:spPr>
          <a:xfrm>
            <a:off x="9052560" y="3566160"/>
            <a:ext cx="2651760" cy="1316736"/>
          </a:xfrm>
          <a:prstGeom prst="rect">
            <a:avLst/>
          </a:prstGeom>
          <a:solidFill>
            <a:srgbClr val="0E1530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3566160"/>
            <a:ext cx="2651760" cy="384048"/>
          </a:xfrm>
          <a:prstGeom prst="rect">
            <a:avLst/>
          </a:prstGeom>
          <a:solidFill>
            <a:srgbClr val="4F6BED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</a:t>
            </a:r>
            <a:pPr indent="0" marL="0">
              <a:buNone/>
            </a:pPr>
            <a:r>
              <a:rPr lang="en-US" sz="1200" b="1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exam_id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42611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exam_name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45720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exam_date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1463040" cy="0"/>
          </a:xfrm>
          <a:prstGeom prst="line">
            <a:avLst/>
          </a:prstGeom>
          <a:noFill/>
          <a:ln w="28575">
            <a:solidFill>
              <a:srgbClr val="7C6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498080" y="1874520"/>
            <a:ext cx="1554480" cy="868680"/>
          </a:xfrm>
          <a:prstGeom prst="line">
            <a:avLst/>
          </a:prstGeom>
          <a:noFill/>
          <a:ln w="28575">
            <a:solidFill>
              <a:srgbClr val="7C6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291840"/>
            <a:ext cx="1554480" cy="1005840"/>
          </a:xfrm>
          <a:prstGeom prst="line">
            <a:avLst/>
          </a:prstGeom>
          <a:noFill/>
          <a:ln w="28575">
            <a:solidFill>
              <a:srgbClr val="7C6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5"/>
                </a:solidFill>
              </a:rPr>
              <a:t>Each student, subject and exam can appear in many MARKS rows (1 : N). MARKS is the linking table that records one score for a student in a subject during an exam.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— Tables &amp; Constraints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2331720" cy="0"/>
          </a:xfrm>
          <a:prstGeom prst="line">
            <a:avLst/>
          </a:prstGeom>
          <a:noFill/>
          <a:ln w="25400">
            <a:solidFill>
              <a:srgbClr val="29C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C5F6"/>
                </a:solidFill>
              </a:rPr>
              <a:t>STUDENTS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(PK)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PK, AUTO_INCREMENT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VARCHAR(100)  NOT NULL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VARCHAR(100)  NOT NULL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2606040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600200"/>
            <a:ext cx="2331720" cy="0"/>
          </a:xfrm>
          <a:prstGeom prst="line">
            <a:avLst/>
          </a:prstGeom>
          <a:noFill/>
          <a:ln w="25400">
            <a:solidFill>
              <a:srgbClr val="29C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097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C5F6"/>
                </a:solidFill>
              </a:rPr>
              <a:t>SUBJECTS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  (PK)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PK, AUTO_INCREMENT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subject_name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VARCHAR(100)  NOT NULL, UNIQUE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2606040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600200"/>
            <a:ext cx="2331720" cy="0"/>
          </a:xfrm>
          <a:prstGeom prst="line">
            <a:avLst/>
          </a:prstGeom>
          <a:noFill/>
          <a:ln w="25400">
            <a:solidFill>
              <a:srgbClr val="29C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1097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C5F6"/>
                </a:solidFill>
              </a:rPr>
              <a:t>EXAMS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exam_id  (PK)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PK, AUTO_INCREMENT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exam_name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VARCHAR(100)  NOT NULL, UNIQUE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exam_date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DATE  NOT NULL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89720" y="1097280"/>
            <a:ext cx="2606040" cy="512064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1600200"/>
            <a:ext cx="2331720" cy="0"/>
          </a:xfrm>
          <a:prstGeom prst="line">
            <a:avLst/>
          </a:prstGeom>
          <a:noFill/>
          <a:ln w="25400">
            <a:solidFill>
              <a:srgbClr val="29C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0" y="1097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9C5F6"/>
                </a:solidFill>
              </a:rPr>
              <a:t>MARKS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mark_id  (PK)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PK, AUTO_INCREMENT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(FK)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FK → students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  (FK)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FK → subjects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C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exam_id  (FK)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4663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FK → exams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5212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5532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A0C8"/>
                </a:solidFill>
              </a:rPr>
              <a:t>INT  NOT NULL, CHECK 0–100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— Students, Subjects &amp; Exams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0C8"/>
                </a:solidFill>
              </a:rPr>
              <a:t>6 students · 5 subjects · 3 exams</a:t>
            </a:r>
            <a:endParaRPr lang="en-US" sz="1200" dirty="0"/>
          </a:p>
        </p:txBody>
      </p:sp>
      <p:sp>
        <p:nvSpPr>
          <p:cNvPr id="4" name="Terminal panel"/>
          <p:cNvSpPr/>
          <p:nvPr/>
        </p:nvSpPr>
        <p:spPr>
          <a:xfrm>
            <a:off x="457200" y="1234440"/>
            <a:ext cx="5486400" cy="2459736"/>
          </a:xfrm>
          <a:prstGeom prst="roundRect">
            <a:avLst>
              <a:gd name="adj" fmla="val 3717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502920" y="1280160"/>
            <a:ext cx="5394960" cy="2368296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select * from students;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student_id | first_name | last_name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1 | Aarav      | Sharma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2 | Priya      | Patel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3 | Rohan      | Verma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4 | Ananya     | Singh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5 | Karthik    | Reddy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6 | Sneha      | Iyer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rows in set (0.00 sec)</a:t>
            </a:r>
            <a:endParaRPr lang="en-US" sz="1100" dirty="0"/>
          </a:p>
        </p:txBody>
      </p:sp>
      <p:sp>
        <p:nvSpPr>
          <p:cNvPr id="6" name="Terminal panel"/>
          <p:cNvSpPr/>
          <p:nvPr/>
        </p:nvSpPr>
        <p:spPr>
          <a:xfrm>
            <a:off x="6263640" y="1234440"/>
            <a:ext cx="5468112" cy="2281428"/>
          </a:xfrm>
          <a:prstGeom prst="roundRect">
            <a:avLst>
              <a:gd name="adj" fmla="val 4008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7" name="Terminal text"/>
          <p:cNvSpPr txBox="1"/>
          <p:nvPr/>
        </p:nvSpPr>
        <p:spPr>
          <a:xfrm>
            <a:off x="6309360" y="1280160"/>
            <a:ext cx="5376672" cy="218998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select * from subjects;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subject_id | subject_name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1 | Mathematics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2 | Science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3 | Hindi  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4 | English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5 | Social Studies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rows in set (0.00 sec)</a:t>
            </a:r>
            <a:endParaRPr lang="en-US" sz="1100" dirty="0"/>
          </a:p>
        </p:txBody>
      </p:sp>
      <p:sp>
        <p:nvSpPr>
          <p:cNvPr id="8" name="Terminal panel"/>
          <p:cNvSpPr/>
          <p:nvPr/>
        </p:nvSpPr>
        <p:spPr>
          <a:xfrm>
            <a:off x="457200" y="4160520"/>
            <a:ext cx="6583680" cy="1924812"/>
          </a:xfrm>
          <a:prstGeom prst="roundRect">
            <a:avLst>
              <a:gd name="adj" fmla="val 4751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502920" y="4206240"/>
            <a:ext cx="6492240" cy="18333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select * from exams;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exam_id | exam_name        | exam_date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1 | Unit Test 1 2024 | 2024-07-15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2 | Half-Yearly 2024 | 2024-10-10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3 | Annual 2025      | 2025-03-20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rows in set (0.00 sec)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— Marks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0C8"/>
                </a:solidFill>
              </a:rPr>
              <a:t>16 mark records across 3 exams</a:t>
            </a:r>
            <a:endParaRPr lang="en-US" sz="1200" dirty="0"/>
          </a:p>
        </p:txBody>
      </p:sp>
      <p:sp>
        <p:nvSpPr>
          <p:cNvPr id="4" name="Terminal panel"/>
          <p:cNvSpPr/>
          <p:nvPr/>
        </p:nvSpPr>
        <p:spPr>
          <a:xfrm>
            <a:off x="457200" y="1234440"/>
            <a:ext cx="6583680" cy="4242816"/>
          </a:xfrm>
          <a:prstGeom prst="roundRect">
            <a:avLst>
              <a:gd name="adj" fmla="val 2155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502920" y="1280160"/>
            <a:ext cx="6492240" cy="4151376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select * from marks;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mark_id | student_id | subject_id | exam_id | score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1 |          1 |          1 |       1 |    78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2 |          1 |          2 |       1 |    85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3 |          2 |          1 |       1 |    60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4 |          1 |          1 |       2 |    92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5 |          1 |          2 |       2 |    88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6 |          1 |          3 |       2 |    76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7 |          2 |          1 |       2 |    81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8 |          2 |          4 |       2 |    69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9 |          3 |          2 |       2 |    55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10 |          4 |          3 |       2 |    90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11 |          5 |          5 |       2 |    72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12 |          1 |          4 |       3 |    84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13 |          2 |          2 |       3 |    73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14 |          3 |          1 |       3 |    48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15 |          4 |          5 |       3 |    95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16 |          6 |          3 |       3 |    67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rows in set (0.00 sec)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06640" y="1234440"/>
            <a:ext cx="4325112" cy="2743200"/>
          </a:xfrm>
          <a:prstGeom prst="roundRect">
            <a:avLst>
              <a:gd name="adj" fmla="val 3333"/>
            </a:avLst>
          </a:prstGeom>
          <a:solidFill>
            <a:srgbClr val="162248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1371600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How to read it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0D0D0"/>
                </a:solidFill>
              </a:rPr>
              <a:t>Row 1 means student 1 (Aarav) scored 78 in subject 1 (Mathematics) in exam 1 (Unit Test 1 2024).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</a:rPr>
              <a:t>Joins translate these IDs back into names.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534924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C5F6"/>
                </a:solidFill>
              </a:rPr>
              <a:t>SQL QUERY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49240" y="27432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Retrieval Queries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Simple SELECT statements with filtering and sorting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1 — Basic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01  ·  BASIC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first and last name of all students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194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first_name, last_name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377440"/>
          </a:xfrm>
          <a:prstGeom prst="roundRect">
            <a:avLst>
              <a:gd name="adj" fmla="val 384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2860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first_name | last_name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Sharma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     | Patel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Rohan      | Verma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    | Singh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Karthik    | Reddy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Sneha      | Iyer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rows in set (0.00 sec)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462272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2 — Filter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02  ·  FILTER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all marks where the score is greater than 80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505456"/>
          </a:xfrm>
          <a:prstGeom prst="roundRect">
            <a:avLst>
              <a:gd name="adj" fmla="val 3650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32257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505456"/>
          </a:xfrm>
          <a:prstGeom prst="roundRect">
            <a:avLst>
              <a:gd name="adj" fmla="val 3650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414016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mark_id | student_id | subject_id | exam_id | score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2 |          1 |          2 |       1 |    85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4 |          1 |          1 |       2 |    92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5 |          1 |          2 |       2 |    88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7 |          2 |          1 |       2 |    81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10 |          4 |          3 |       2 |    90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12 |          1 |          4 |       3 |    84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15 |          4 |          5 |       3 |    95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+---------+------------+------------+---------+-------+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rows in set (0.00 sec)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590288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 — Sort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03  ·  SORT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all exams sorted by date, most recent first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194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exams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exam_date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377440"/>
          </a:xfrm>
          <a:prstGeom prst="roundRect">
            <a:avLst>
              <a:gd name="adj" fmla="val 384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2860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exam_id | exam_name        | exam_date 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3 | Annual 2025      | 2025-03-20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2 | Half-Yearly 2024 | 2024-10-10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1 | Unit Test 1 2024 | 2024-07-15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+---------+------------------+------------+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rows in set (0.00 sec)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462272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534924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C5F6"/>
                </a:solidFill>
              </a:rPr>
              <a:t>SQL QUERY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49240" y="27432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Multi-Table Join Queries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Combining related tables with JOIN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 — Join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04  ·  JOIN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first name, subject name and score for every mark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4110228"/>
          </a:xfrm>
          <a:prstGeom prst="roundRect">
            <a:avLst>
              <a:gd name="adj" fmla="val 2225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392734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s.first_name, sub.subject_name, m.score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m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m.student_id = s.student_id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 sub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m.subject_id = sub.subject_id;</a:t>
            </a:r>
            <a:endParaRPr lang="en-US" sz="13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4110228"/>
          </a:xfrm>
          <a:prstGeom prst="roundRect">
            <a:avLst>
              <a:gd name="adj" fmla="val 2225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401878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first_name | subject_name   | score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Mathematics    |    78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Science        |    85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     | Mathematics    |    60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Mathematics    |    92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Science        |    88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Hindi          |    76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     | Mathematics    |    81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     | English        |    69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Rohan      | Science        |    55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    | Hindi          |    90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Karthik    | Social Studies |    72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     | English        |    84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     | Science        |    73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Rohan      | Mathematics    |    48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    | Social Studies |    95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Sneha      | Hindi          |    67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+------------+----------------+-------+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rows in set (0.00 sec)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6195060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534924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C5F6"/>
                </a:solidFill>
              </a:rPr>
              <a:t>SQL QUERY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49240" y="27432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Aggregate, Grouping &amp; Subqueries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COUNT, SUM, AVG, GROUP BY, subqueries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 — Aggregate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05  ·  AGGREGATE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average score of each subject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sub.subject_name,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(m.score)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average_score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 sub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m.subject_id = sub.subject_id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sub.subject_id, sub.subject_name;</a:t>
            </a:r>
            <a:endParaRPr lang="en-US" sz="15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834640"/>
          </a:xfrm>
          <a:prstGeom prst="roundRect">
            <a:avLst>
              <a:gd name="adj" fmla="val 322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subject_name   | average_score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Mathematics    |       71.8000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Science        |       75.2500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Hindi          |       77.6667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English        |       76.5000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Social Studies |       83.5000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rows in set (0.00 sec)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919472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 — Aggregate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06  ·  AGGREGATE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how many marks are recorded for “Aarav Sharma”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194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total_marks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m.student_id = s.student_id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s.first_name =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'Aarav'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s.last_name =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'Sharma'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377440"/>
          </a:xfrm>
          <a:prstGeom prst="roundRect">
            <a:avLst>
              <a:gd name="adj" fmla="val 384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2860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total_marks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6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in set (0.00 sec)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462272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8 — Group &amp; Having 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08  ·  GROUP &amp; HAVING 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exam name and total score, only where the total is above 250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660904"/>
          </a:xfrm>
          <a:prstGeom prst="roundRect">
            <a:avLst>
              <a:gd name="adj" fmla="val 343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47802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e.exam_name,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(m.score)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total_score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exams 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m.exam_id = e.exam_id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e.exam_id, e.exam_name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(m.score) &gt;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B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660904"/>
          </a:xfrm>
          <a:prstGeom prst="roundRect">
            <a:avLst>
              <a:gd name="adj" fmla="val 343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569464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exam_name        | total_score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Half-Yearly 2024 |         623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Annual 2025      |         367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+------------------+-------------+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rows in set (0.00 sec)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745736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534924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C5F6"/>
                </a:solidFill>
              </a:rPr>
              <a:t>SQL QUERY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49240" y="27432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Logic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CASE expressions for Pass / Fail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7 — Subquery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07  ·  SUBQUERY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student with the highest single score in any exam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21945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first_name, last_name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student_id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student_id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= (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(score)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marks));</a:t>
            </a:r>
            <a:endParaRPr lang="en-US" sz="15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2377440"/>
          </a:xfrm>
          <a:prstGeom prst="roundRect">
            <a:avLst>
              <a:gd name="adj" fmla="val 3846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22860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first_name | last_name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    | Singh    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in set (0.00 sec)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4462272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9 — CASE Expression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C5F6"/>
                </a:solidFill>
              </a:rPr>
              <a:t>QUERY 09  ·  CASE EXPRESSION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student, subject, score and Pass/Fail status (Pass if score ≥ 70)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91440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SQL</a:t>
            </a:r>
            <a:endParaRPr lang="en-US" sz="100" dirty="0"/>
          </a:p>
        </p:txBody>
      </p:sp>
      <p:sp>
        <p:nvSpPr>
          <p:cNvPr id="6" name="Code panel"/>
          <p:cNvSpPr/>
          <p:nvPr/>
        </p:nvSpPr>
        <p:spPr>
          <a:xfrm>
            <a:off x="457200" y="2011680"/>
            <a:ext cx="5394960" cy="4110228"/>
          </a:xfrm>
          <a:prstGeom prst="roundRect">
            <a:avLst>
              <a:gd name="adj" fmla="val 2225"/>
            </a:avLst>
          </a:prstGeom>
          <a:solidFill>
            <a:srgbClr val="050816"/>
          </a:solidFill>
          <a:ln w="15875">
            <a:solidFill>
              <a:srgbClr val="29C5F6"/>
            </a:solidFill>
            <a:prstDash val="solid"/>
          </a:ln>
        </p:spPr>
      </p:sp>
      <p:sp>
        <p:nvSpPr>
          <p:cNvPr id="7" name="SQL code"/>
          <p:cNvSpPr txBox="1"/>
          <p:nvPr/>
        </p:nvSpPr>
        <p:spPr>
          <a:xfrm>
            <a:off x="640080" y="2103120"/>
            <a:ext cx="5120640" cy="392734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(s.first_name,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,s.last_name)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student_name,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sub.subject_name, m.score,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m.score &gt;=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'Pass'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'Fail'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m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m.student_id = s.student_id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subjects sub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m.subject_id = sub.subject_id;</a:t>
            </a:r>
            <a:endParaRPr lang="en-US" sz="1300" dirty="0"/>
          </a:p>
        </p:txBody>
      </p:sp>
      <p:sp>
        <p:nvSpPr>
          <p:cNvPr id="8" name="Terminal panel"/>
          <p:cNvSpPr/>
          <p:nvPr/>
        </p:nvSpPr>
        <p:spPr>
          <a:xfrm>
            <a:off x="6080760" y="2011680"/>
            <a:ext cx="5650992" cy="4110228"/>
          </a:xfrm>
          <a:prstGeom prst="roundRect">
            <a:avLst>
              <a:gd name="adj" fmla="val 2225"/>
            </a:avLst>
          </a:prstGeom>
          <a:solidFill>
            <a:srgbClr val="05070F"/>
          </a:solidFill>
          <a:ln w="15875">
            <a:solidFill>
              <a:srgbClr val="2C4A9A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6126480" y="2057400"/>
            <a:ext cx="5559552" cy="401878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+---------------+----------------+-------+--------+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student_name  | subject_name   | score | status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+---------------+----------------+-------+--------+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Mathematics    |    78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Science        |    85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Patel   | Mathematics    |    60 | Fail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Mathematics    |    92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Science        |    88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Hindi          |    76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Patel   | Mathematics    |    81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Patel   | English        |    69 | Fail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Rohan Verma   | Science        |    55 | Fail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Singh  | Hindi          |    90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Karthik Reddy | Social Studies |    72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Aarav Sharma  | English        |    84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Priya Patel   | Science        |    73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Rohan Verma   | Mathematics    |    48 | Fail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Ananya Singh  | Social Studies |    95 | Pass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Sneha Iyer    | Hindi          |    67 | Fail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+---------------+----------------+-------+--------+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rows in set (0.00 sec)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6195060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A0C8"/>
                </a:solidFill>
              </a:rPr>
              <a:t>MySQL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25603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mark records stored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highest score — Ananya Singh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Pass / Fail results (pass ≥ 70)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1097280"/>
            <a:ext cx="2651760" cy="1828800"/>
          </a:xfrm>
          <a:prstGeom prst="rect">
            <a:avLst/>
          </a:prstGeom>
          <a:solidFill>
            <a:srgbClr val="0E1530"/>
          </a:solidFill>
          <a:ln w="12700">
            <a:solidFill>
              <a:srgbClr val="2234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C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3F5"/>
                </a:solidFill>
              </a:rPr>
              <a:t>top exam total — Half-Yearly 2024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11247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A normalized four-table schema (Students, Subjects, Exams, Marks) captures school exam data without duplication.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Primary keys, foreign keys and the CHECK constraint protect data integrity.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SQL filtering, joins, aggregation, subqueries and CASE turn raw marks into useful reports.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3F5"/>
                </a:solidFill>
              </a:rPr>
              <a:t>Social Studies has the highest average (83.5); Mathematics the lowest (71.8).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9C5F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874520"/>
            <a:ext cx="64008" cy="1554480"/>
          </a:xfrm>
          <a:prstGeom prst="rect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School Management System  ·  DBMS Mini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6EA"/>
                </a:solidFill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Snigdha Kanoj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ol DBMS Dark Modern Tech">
  <a:themeElements>
    <a:clrScheme name="School DBMS Dark Modern Tech">
      <a:dk1>
        <a:srgbClr val="070B1A"/>
      </a:dk1>
      <a:lt1>
        <a:srgbClr val="FFFFFF"/>
      </a:lt1>
      <a:dk2>
        <a:srgbClr val="0E1530"/>
      </a:dk2>
      <a:lt2>
        <a:srgbClr val="DCE3F5"/>
      </a:lt2>
      <a:accent1>
        <a:srgbClr val="29C5F6"/>
      </a:accent1>
      <a:accent2>
        <a:srgbClr val="7C6CF0"/>
      </a:accent2>
      <a:accent3>
        <a:srgbClr val="4F6BED"/>
      </a:accent3>
      <a:accent4>
        <a:srgbClr val="5EEAD4"/>
      </a:accent4>
      <a:accent5>
        <a:srgbClr val="162248"/>
      </a:accent5>
      <a:accent6>
        <a:srgbClr val="22346B"/>
      </a:accent6>
      <a:hlink>
        <a:srgbClr val="29C5F6"/>
      </a:hlink>
      <a:folHlink>
        <a:srgbClr val="7C6CF0"/>
      </a:folHlink>
    </a:clrScheme>
    <a:fontScheme name="School DBMS Dark Modern Te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— DBMS Mini Project</dc:title>
  <dc:subject>PptxGenJS Presentation</dc:subject>
  <dc:creator>PptxGenJS</dc:creator>
  <cp:lastModifiedBy>PptxGenJS</cp:lastModifiedBy>
  <cp:revision>1</cp:revision>
  <dcterms:created xsi:type="dcterms:W3CDTF">2026-10-25T20:18:44Z</dcterms:created>
  <dcterms:modified xsi:type="dcterms:W3CDTF">2026-10-25T20:18:44Z</dcterms:modified>
</cp:coreProperties>
</file>